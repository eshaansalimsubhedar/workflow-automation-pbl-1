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F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607040" cy="11887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BPMN 2.0 Process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423160"/>
            <a:ext cx="10058400" cy="7315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300" b="0">
                <a:solidFill>
                  <a:srgbClr val="D0E0F2"/>
                </a:solidFill>
                <a:latin typeface="Aptos"/>
              </a:defRPr>
            </a:pPr>
            <a:r>
              <a:t>Logistics Exception Management &amp; Loan Origination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886200"/>
            <a:ext cx="9875520" cy="9144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Happy paths • Task types • Gateways • Intermediate events • Failure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989320"/>
            <a:ext cx="987552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200" b="0">
                <a:solidFill>
                  <a:srgbClr val="D0E0F2"/>
                </a:solidFill>
                <a:latin typeface="Aptos"/>
              </a:defRPr>
            </a:pPr>
            <a:r>
              <a:t>Project presentation | BPMN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800" b="1">
                <a:solidFill>
                  <a:srgbClr val="182F52"/>
                </a:solidFill>
                <a:latin typeface="Aptos"/>
              </a:defRPr>
            </a:pPr>
            <a:r>
              <a:t>Project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5F6975"/>
                </a:solidFill>
                <a:latin typeface="Aptos"/>
              </a:defRPr>
            </a:pPr>
            <a:r>
              <a:t>Design processes that are traceable, exception-aware, and explainable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A34"/>
                </a:solidFill>
                <a:latin typeface="Aptos"/>
              </a:defRPr>
            </a:pPr>
            <a:r>
              <a:t>Show a complete happy path from start to successful end.</a:t>
            </a:r>
          </a:p>
          <a:p>
            <a:pPr>
              <a:spcAft>
                <a:spcPts val="1200"/>
              </a:spcAft>
              <a:defRPr sz="2100">
                <a:solidFill>
                  <a:srgbClr val="232A34"/>
                </a:solidFill>
                <a:latin typeface="Aptos"/>
              </a:defRPr>
            </a:pPr>
            <a:r>
              <a:t>Choose task types based on who performs the work and whether it is automated.</a:t>
            </a:r>
          </a:p>
          <a:p>
            <a:pPr>
              <a:spcAft>
                <a:spcPts val="1200"/>
              </a:spcAft>
              <a:defRPr sz="2100">
                <a:solidFill>
                  <a:srgbClr val="232A34"/>
                </a:solidFill>
                <a:latin typeface="Aptos"/>
              </a:defRPr>
            </a:pPr>
            <a:r>
              <a:t>Use gateways to represent decisions, concurrency, and event-driven routing.</a:t>
            </a:r>
          </a:p>
          <a:p>
            <a:pPr>
              <a:spcAft>
                <a:spcPts val="1200"/>
              </a:spcAft>
              <a:defRPr sz="2100">
                <a:solidFill>
                  <a:srgbClr val="232A34"/>
                </a:solidFill>
                <a:latin typeface="Aptos"/>
              </a:defRPr>
            </a:pPr>
            <a:r>
              <a:t>Model failures with retries, timers, escalation, manual fallback, and compensation.</a:t>
            </a:r>
          </a:p>
          <a:p>
            <a:pPr>
              <a:spcAft>
                <a:spcPts val="1200"/>
              </a:spcAft>
              <a:defRPr sz="2100">
                <a:solidFill>
                  <a:srgbClr val="232A34"/>
                </a:solidFill>
                <a:latin typeface="Aptos"/>
              </a:defRPr>
            </a:pPr>
            <a:r>
              <a:t>Maintain a failure-path register so each exception maps to a process response.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800" b="1">
                <a:solidFill>
                  <a:srgbClr val="182F52"/>
                </a:solidFill>
                <a:latin typeface="Aptos"/>
              </a:defRPr>
            </a:pPr>
            <a:r>
              <a:t>Assignment 2 — Logistics &amp; Shipment Exceptions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5F6975"/>
                </a:solidFill>
                <a:latin typeface="Aptos"/>
              </a:defRPr>
            </a:pPr>
            <a:r>
              <a:t>Participants: shipper, dispatcher, pickup agent, hub, delivery agent, recipient,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Start: shipper books a shipment.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Validate address, weight and service level; calculate charges.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Schedule pickup → collect and scan parcel.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Run parcel movement and tracking/shipper notification in parallel.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Sort and transport through hubs → out-for-delivery notification.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Capture proof of delivery → close shipment and invoice.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Successful end: Shipment Delivered.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800" b="1">
                <a:solidFill>
                  <a:srgbClr val="182F52"/>
                </a:solidFill>
                <a:latin typeface="Aptos"/>
              </a:defRPr>
            </a:pPr>
            <a:r>
              <a:t>Logistics — Task types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5F6975"/>
                </a:solidFill>
                <a:latin typeface="Aptos"/>
              </a:defRPr>
            </a:pPr>
            <a:r>
              <a:t>Select the task by the nature of the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520440" cy="1874519"/>
          </a:xfrm>
          <a:prstGeom prst="roundRect">
            <a:avLst/>
          </a:prstGeom>
          <a:solidFill>
            <a:srgbClr val="EFF4F9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527048"/>
            <a:ext cx="319125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82F52"/>
                </a:solidFill>
                <a:latin typeface="Aptos"/>
              </a:defRPr>
            </a:pPr>
            <a:r>
              <a:t>User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947672"/>
            <a:ext cx="3191256" cy="1252727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232A34"/>
                </a:solidFill>
                <a:latin typeface="Aptos"/>
              </a:defRPr>
            </a:pPr>
            <a:r>
              <a:t>Booking details; proof-of-delivery confirmation.</a:t>
            </a:r>
            <a:br/>
            <a:r>
              <a:t>Human supplies or confirms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520440" cy="1874519"/>
          </a:xfrm>
          <a:prstGeom prst="roundRect">
            <a:avLst/>
          </a:prstGeom>
          <a:solidFill>
            <a:srgbClr val="EFF4F9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527048"/>
            <a:ext cx="319125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82F52"/>
                </a:solidFill>
                <a:latin typeface="Aptos"/>
              </a:defRPr>
            </a:pPr>
            <a:r>
              <a:t>Business Rule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1947672"/>
            <a:ext cx="3191256" cy="1252727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232A34"/>
                </a:solidFill>
                <a:latin typeface="Aptos"/>
              </a:defRPr>
            </a:pPr>
            <a:r>
              <a:t>Address/weight/service validation and charge calculation.</a:t>
            </a:r>
            <a:br/>
            <a:r>
              <a:t>Rules produce a decision or result.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417320"/>
            <a:ext cx="3520440" cy="1874519"/>
          </a:xfrm>
          <a:prstGeom prst="roundRect">
            <a:avLst/>
          </a:prstGeom>
          <a:solidFill>
            <a:srgbClr val="EFF4F9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1" y="1527048"/>
            <a:ext cx="319125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82F52"/>
                </a:solidFill>
                <a:latin typeface="Aptos"/>
              </a:defRPr>
            </a:pPr>
            <a:r>
              <a:t>Service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1" y="1947672"/>
            <a:ext cx="3191256" cy="1252727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232A34"/>
                </a:solidFill>
                <a:latin typeface="Aptos"/>
              </a:defRPr>
            </a:pPr>
            <a:r>
              <a:t>Pickup scheduling, tracking update, shipment closure.</a:t>
            </a:r>
            <a:br/>
            <a:r>
              <a:t>Automated system operation.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3703320"/>
            <a:ext cx="3520440" cy="1874519"/>
          </a:xfrm>
          <a:prstGeom prst="roundRect">
            <a:avLst/>
          </a:prstGeom>
          <a:solidFill>
            <a:srgbClr val="EFF4F9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33472" y="3813048"/>
            <a:ext cx="319125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82F52"/>
                </a:solidFill>
                <a:latin typeface="Aptos"/>
              </a:defRPr>
            </a:pPr>
            <a:r>
              <a:t>Send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4233672"/>
            <a:ext cx="3191256" cy="1252727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232A34"/>
                </a:solidFill>
                <a:latin typeface="Aptos"/>
              </a:defRPr>
            </a:pPr>
            <a:r>
              <a:t>Notify shipper or recipient.</a:t>
            </a:r>
            <a:br/>
            <a:r>
              <a:t>Makes outbound communication explicit.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03320"/>
            <a:ext cx="3520440" cy="1874519"/>
          </a:xfrm>
          <a:prstGeom prst="roundRect">
            <a:avLst/>
          </a:prstGeom>
          <a:solidFill>
            <a:srgbClr val="EFF4F9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13048"/>
            <a:ext cx="319125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82F52"/>
                </a:solidFill>
                <a:latin typeface="Aptos"/>
              </a:defRPr>
            </a:pPr>
            <a:r>
              <a:t>Manual / User 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233672"/>
            <a:ext cx="3191256" cy="1252727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232A34"/>
                </a:solidFill>
                <a:latin typeface="Aptos"/>
              </a:defRPr>
            </a:pPr>
            <a:r>
              <a:t>Physical pickup and handover.</a:t>
            </a:r>
            <a:br/>
            <a:r>
              <a:t>Human action or confirmation.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800" b="1">
                <a:solidFill>
                  <a:srgbClr val="182F52"/>
                </a:solidFill>
                <a:latin typeface="Aptos"/>
              </a:defRPr>
            </a:pPr>
            <a:r>
              <a:t>Logistics — Gateways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474720" cy="1920240"/>
          </a:xfrm>
          <a:prstGeom prst="roundRect">
            <a:avLst/>
          </a:prstGeom>
          <a:solidFill>
            <a:srgbClr val="EFF4F9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572768"/>
            <a:ext cx="314553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82F52"/>
                </a:solidFill>
                <a:latin typeface="Aptos"/>
              </a:defRPr>
            </a:pPr>
            <a:r>
              <a:t>Exclusive (XOR)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1" y="1993392"/>
            <a:ext cx="3145536" cy="12984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232A34"/>
                </a:solidFill>
                <a:latin typeface="Aptos"/>
              </a:defRPr>
            </a:pPr>
            <a:r>
              <a:t>Choose one outcome: valid/invalid booking, insured/uninsured damage, delivered/refused/COD failed.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74720" cy="1920240"/>
          </a:xfrm>
          <a:prstGeom prst="roundRect">
            <a:avLst/>
          </a:prstGeom>
          <a:solidFill>
            <a:srgbClr val="EFF4F9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572768"/>
            <a:ext cx="314553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82F52"/>
                </a:solidFill>
                <a:latin typeface="Aptos"/>
              </a:defRPr>
            </a:pPr>
            <a:r>
              <a:t>Parallel (AND)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712" y="1993392"/>
            <a:ext cx="3145536" cy="12984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232A34"/>
                </a:solidFill>
                <a:latin typeface="Aptos"/>
              </a:defRPr>
            </a:pPr>
            <a:r>
              <a:t>Movement and tracking/notification proceed concurrently; join after both required branches finish.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474720" cy="1920240"/>
          </a:xfrm>
          <a:prstGeom prst="roundRect">
            <a:avLst/>
          </a:prstGeom>
          <a:solidFill>
            <a:srgbClr val="EFF4F9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572768"/>
            <a:ext cx="314553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82F52"/>
                </a:solidFill>
                <a:latin typeface="Aptos"/>
              </a:defRPr>
            </a:pPr>
            <a:r>
              <a:t>Event-based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1993392"/>
            <a:ext cx="3145536" cy="12984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232A34"/>
                </a:solidFill>
                <a:latin typeface="Aptos"/>
              </a:defRPr>
            </a:pPr>
            <a:r>
              <a:t>Wait for a delay message or timer; the event that occurs first determines the route.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10241280" cy="137160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Every outgoing decision branch should have a readable condition.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Use a parallel join only when all required parallel branches must complete.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800" b="1">
                <a:solidFill>
                  <a:srgbClr val="182F52"/>
                </a:solidFill>
                <a:latin typeface="Aptos"/>
              </a:defRPr>
            </a:pPr>
            <a:r>
              <a:t>Logistics — Intermediate and boundary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Timer event: no scan for 48 hours starts tracing; a five-day trace limit can end as Lost.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Timer event: customs documents due within five days; depot hold lasts seven days.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Error boundary event: scanner failure → manual record correction → reconciliation.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Message boundary event: cancellation during transit → stop movement → return parcel.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Message intermediate events: request missing customs documents and receive the response.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Compensation: apply the refund/fee adjustment after cancellation.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800" b="1">
                <a:solidFill>
                  <a:srgbClr val="182F52"/>
                </a:solidFill>
                <a:latin typeface="Aptos"/>
              </a:defRPr>
            </a:pPr>
            <a:r>
              <a:t>Logistics — Critical path and alternate paths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5303520" cy="4480560"/>
          </a:xfrm>
          <a:prstGeom prst="roundRect">
            <a:avLst/>
          </a:prstGeom>
          <a:solidFill>
            <a:srgbClr val="EFF4F9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527048"/>
            <a:ext cx="497433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82F52"/>
                </a:solidFill>
                <a:latin typeface="Aptos"/>
              </a:defRPr>
            </a:pPr>
            <a:r>
              <a:t>Critical / happy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1" y="1947672"/>
            <a:ext cx="4974336" cy="385876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232A34"/>
                </a:solidFill>
                <a:latin typeface="Aptos"/>
              </a:defRPr>
            </a:pPr>
            <a:r>
              <a:t>Booking</a:t>
            </a:r>
            <a:br/>
            <a:r>
              <a:t>↓</a:t>
            </a:r>
            <a:br/>
            <a:r>
              <a:t>Validation → pickup scheduling → collection/scan</a:t>
            </a:r>
            <a:br/>
            <a:r>
              <a:t>↓</a:t>
            </a:r>
            <a:br/>
            <a:r>
              <a:t>Parallel movement + tracking</a:t>
            </a:r>
            <a:br/>
            <a:r>
              <a:t>↓</a:t>
            </a:r>
            <a:br/>
            <a:r>
              <a:t>Hub sorting/transit → out for delivery</a:t>
            </a:r>
            <a:br/>
            <a:r>
              <a:t>↓</a:t>
            </a:r>
            <a:br/>
            <a:r>
              <a:t>Proof of delivery → close/invoice</a:t>
            </a:r>
            <a:br/>
            <a:r>
              <a:t>↓</a:t>
            </a:r>
            <a:br/>
            <a:r>
              <a:t>Shipment Delivered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303520" cy="4480560"/>
          </a:xfrm>
          <a:prstGeom prst="roundRect">
            <a:avLst/>
          </a:prstGeom>
          <a:solidFill>
            <a:srgbClr val="F7F2E8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1" y="1527048"/>
            <a:ext cx="497433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82F52"/>
                </a:solidFill>
                <a:latin typeface="Aptos"/>
              </a:defRPr>
            </a:pPr>
            <a:r>
              <a:t>Alternate / exception paths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8231" y="1947672"/>
            <a:ext cx="4974336" cy="385876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232A34"/>
                </a:solidFill>
                <a:latin typeface="Aptos"/>
              </a:defRPr>
            </a:pPr>
            <a:r>
              <a:t>Pickup fails → retry twice → cancel</a:t>
            </a:r>
            <a:br/>
            <a:r>
              <a:t>No scan → trace → declare Lost if unresolved</a:t>
            </a:r>
            <a:br/>
            <a:r>
              <a:t>Delay → notify → reroute/update ETA</a:t>
            </a:r>
            <a:br/>
            <a:r>
              <a:t>Damage → inspect → claims or inform shipper</a:t>
            </a:r>
            <a:br/>
            <a:r>
              <a:t>Recipient unavailable → retry → hold → return</a:t>
            </a:r>
            <a:br/>
            <a:r>
              <a:t>Cancellation in transit → return + compensation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800" b="1">
                <a:solidFill>
                  <a:srgbClr val="182F52"/>
                </a:solidFill>
                <a:latin typeface="Aptos"/>
              </a:defRPr>
            </a:pPr>
            <a:r>
              <a:t>Assignment 3 — Loan Origination &amp;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5F6975"/>
                </a:solidFill>
                <a:latin typeface="Aptos"/>
              </a:defRPr>
            </a:pPr>
            <a:r>
              <a:t>Participants: applicant, loan officer, underwriter, compliance, credit bureau, operations/core banking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Start: application and supporting documents are received.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Validate document completeness.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Run KYC, credit-bureau retrieval, and income/employment checks in parallel.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Calculate eligibility/risk and route to auto-approval, manual review, or rejection.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Underwriter approval → generate/send offer → applicant acceptance.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E-sign agreement → verify account → disburse and create loan account.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Successful end: Loan Disbursed.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800" b="1">
                <a:solidFill>
                  <a:srgbClr val="182F52"/>
                </a:solidFill>
                <a:latin typeface="Aptos"/>
              </a:defRPr>
            </a:pPr>
            <a:r>
              <a:t>Loan — Task types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17320"/>
            <a:ext cx="3520440" cy="1920240"/>
          </a:xfrm>
          <a:prstGeom prst="roundRect">
            <a:avLst/>
          </a:prstGeom>
          <a:solidFill>
            <a:srgbClr val="EFF4F9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1527048"/>
            <a:ext cx="319125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82F52"/>
                </a:solidFill>
                <a:latin typeface="Aptos"/>
              </a:defRPr>
            </a:pPr>
            <a:r>
              <a:t>Business Rule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947672"/>
            <a:ext cx="3191256" cy="12984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232A34"/>
                </a:solidFill>
                <a:latin typeface="Aptos"/>
              </a:defRPr>
            </a:pPr>
            <a:r>
              <a:t>Document rules and eligibility/risk scoring.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520440" cy="1920240"/>
          </a:xfrm>
          <a:prstGeom prst="roundRect">
            <a:avLst/>
          </a:prstGeom>
          <a:solidFill>
            <a:srgbClr val="EFF4F9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527048"/>
            <a:ext cx="319125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82F52"/>
                </a:solidFill>
                <a:latin typeface="Aptos"/>
              </a:defRPr>
            </a:pPr>
            <a:r>
              <a:t>Service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947672"/>
            <a:ext cx="3191256" cy="12984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232A34"/>
                </a:solidFill>
                <a:latin typeface="Aptos"/>
              </a:defRPr>
            </a:pPr>
            <a:r>
              <a:t>KYC API, bureau retrieval, account verification, disbursement.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417320"/>
            <a:ext cx="3520440" cy="1920240"/>
          </a:xfrm>
          <a:prstGeom prst="roundRect">
            <a:avLst/>
          </a:prstGeom>
          <a:solidFill>
            <a:srgbClr val="EFF4F9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1527048"/>
            <a:ext cx="319125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82F52"/>
                </a:solidFill>
                <a:latin typeface="Aptos"/>
              </a:defRPr>
            </a:pPr>
            <a:r>
              <a:t>User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1" y="1947672"/>
            <a:ext cx="3191256" cy="12984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232A34"/>
                </a:solidFill>
                <a:latin typeface="Aptos"/>
              </a:defRPr>
            </a:pPr>
            <a:r>
              <a:t>Income verification, underwriting, manual KYC review, e-signature.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3703320"/>
            <a:ext cx="3520440" cy="1920240"/>
          </a:xfrm>
          <a:prstGeom prst="roundRect">
            <a:avLst/>
          </a:prstGeom>
          <a:solidFill>
            <a:srgbClr val="EFF4F9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3813048"/>
            <a:ext cx="319125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82F52"/>
                </a:solidFill>
                <a:latin typeface="Aptos"/>
              </a:defRPr>
            </a:pPr>
            <a:r>
              <a:t>Send 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4233672"/>
            <a:ext cx="3191256" cy="12984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232A34"/>
                </a:solidFill>
                <a:latin typeface="Aptos"/>
              </a:defRPr>
            </a:pPr>
            <a:r>
              <a:t>Send offer and applicant notifications.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03320"/>
            <a:ext cx="3520440" cy="1920240"/>
          </a:xfrm>
          <a:prstGeom prst="roundRect">
            <a:avLst/>
          </a:prstGeom>
          <a:solidFill>
            <a:srgbClr val="EFF4F9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3813048"/>
            <a:ext cx="319125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82F52"/>
                </a:solidFill>
                <a:latin typeface="Aptos"/>
              </a:defRPr>
            </a:pPr>
            <a:r>
              <a:t>Receive 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4233672"/>
            <a:ext cx="3191256" cy="12984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232A34"/>
                </a:solidFill>
                <a:latin typeface="Aptos"/>
              </a:defRPr>
            </a:pPr>
            <a:r>
              <a:t>Wait for applicant acceptance; pair with a validity deadline.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800" b="1">
                <a:solidFill>
                  <a:srgbClr val="182F52"/>
                </a:solidFill>
                <a:latin typeface="Aptos"/>
              </a:defRPr>
            </a:pPr>
            <a:r>
              <a:t>Loan — Gateways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474720" cy="1920240"/>
          </a:xfrm>
          <a:prstGeom prst="roundRect">
            <a:avLst/>
          </a:prstGeom>
          <a:solidFill>
            <a:srgbClr val="EFF4F9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572768"/>
            <a:ext cx="314553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82F52"/>
                </a:solidFill>
                <a:latin typeface="Aptos"/>
              </a:defRPr>
            </a:pPr>
            <a:r>
              <a:t>Parallel (AND)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1" y="1993392"/>
            <a:ext cx="3145536" cy="12984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232A34"/>
                </a:solidFill>
                <a:latin typeface="Aptos"/>
              </a:defRPr>
            </a:pPr>
            <a:r>
              <a:t>KYC, credit-bureau, and income checks run together and join before risk scoring.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74720" cy="1920240"/>
          </a:xfrm>
          <a:prstGeom prst="roundRect">
            <a:avLst/>
          </a:prstGeom>
          <a:solidFill>
            <a:srgbClr val="EFF4F9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572768"/>
            <a:ext cx="314553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82F52"/>
                </a:solidFill>
                <a:latin typeface="Aptos"/>
              </a:defRPr>
            </a:pPr>
            <a:r>
              <a:t>Exclusive (XOR)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712" y="1993392"/>
            <a:ext cx="3145536" cy="12984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232A34"/>
                </a:solidFill>
                <a:latin typeface="Aptos"/>
              </a:defRPr>
            </a:pPr>
            <a:r>
              <a:t>Route to approve, manual review, reject; also handle KYC and offer outcomes.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474720" cy="1920240"/>
          </a:xfrm>
          <a:prstGeom prst="roundRect">
            <a:avLst/>
          </a:prstGeom>
          <a:solidFill>
            <a:srgbClr val="EFF4F9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572768"/>
            <a:ext cx="314553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82F52"/>
                </a:solidFill>
                <a:latin typeface="Aptos"/>
              </a:defRPr>
            </a:pPr>
            <a:r>
              <a:t>Inclusive (OR)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1993392"/>
            <a:ext cx="3145536" cy="12984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232A34"/>
                </a:solidFill>
                <a:latin typeface="Aptos"/>
              </a:defRPr>
            </a:pPr>
            <a:r>
              <a:t>Activate one or more additional checks when policy conditions require them.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10241280" cy="137160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Use message flows—not sequence flows—between separate pools such as the external credit bureau and the bank process.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Every route should reach a defined next step or terminal outcome.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800" b="1">
                <a:solidFill>
                  <a:srgbClr val="182F52"/>
                </a:solidFill>
                <a:latin typeface="Aptos"/>
              </a:defRPr>
            </a:pPr>
            <a:r>
              <a:t>Loan — Intermediate and boundary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Timer boundary event: seven-day document-response deadline and offer expiry (e.g., 15 days).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Error boundary event: credit-bureau timeout → retry three times → manual check or park with timer.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Escalation: fraud/AML investigation or senior credit committee review.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Message events: request missing documents; receive applicant acceptance or withdrawal.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Compensation: release holds/reverse applicable fees on withdrawal; reverse account creation if disbursement fails.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Retry loops must be bounded; do not allow an application to wait forever.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800" b="1">
                <a:solidFill>
                  <a:srgbClr val="182F52"/>
                </a:solidFill>
                <a:latin typeface="Aptos"/>
              </a:defRPr>
            </a:pPr>
            <a:r>
              <a:t>Loan — Critical path and alternate paths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5303520" cy="4480560"/>
          </a:xfrm>
          <a:prstGeom prst="roundRect">
            <a:avLst/>
          </a:prstGeom>
          <a:solidFill>
            <a:srgbClr val="EFF4F9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527048"/>
            <a:ext cx="497433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82F52"/>
                </a:solidFill>
                <a:latin typeface="Aptos"/>
              </a:defRPr>
            </a:pPr>
            <a:r>
              <a:t>Critical / happy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1" y="1947672"/>
            <a:ext cx="4974336" cy="385876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232A34"/>
                </a:solidFill>
                <a:latin typeface="Aptos"/>
              </a:defRPr>
            </a:pPr>
            <a:r>
              <a:t>Application received</a:t>
            </a:r>
            <a:br/>
            <a:r>
              <a:t>↓</a:t>
            </a:r>
            <a:br/>
            <a:r>
              <a:t>Document validation</a:t>
            </a:r>
            <a:br/>
            <a:r>
              <a:t>↓</a:t>
            </a:r>
            <a:br/>
            <a:r>
              <a:t>Parallel KYC + credit + income checks</a:t>
            </a:r>
            <a:br/>
            <a:r>
              <a:t>↓</a:t>
            </a:r>
            <a:br/>
            <a:r>
              <a:t>Risk scoring → underwriting approval</a:t>
            </a:r>
            <a:br/>
            <a:r>
              <a:t>↓</a:t>
            </a:r>
            <a:br/>
            <a:r>
              <a:t>Offer sent → acceptance → e-signature</a:t>
            </a:r>
            <a:br/>
            <a:r>
              <a:t>↓</a:t>
            </a:r>
            <a:br/>
            <a:r>
              <a:t>Account verification → disbursement</a:t>
            </a:r>
            <a:br/>
            <a:r>
              <a:t>↓</a:t>
            </a:r>
            <a:br/>
            <a:r>
              <a:t>Loan Disbursed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303520" cy="4480560"/>
          </a:xfrm>
          <a:prstGeom prst="roundRect">
            <a:avLst/>
          </a:prstGeom>
          <a:solidFill>
            <a:srgbClr val="F7F2E8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1" y="1527048"/>
            <a:ext cx="497433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82F52"/>
                </a:solidFill>
                <a:latin typeface="Aptos"/>
              </a:defRPr>
            </a:pPr>
            <a:r>
              <a:t>Alternate / exception paths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8231" y="1947672"/>
            <a:ext cx="4974336" cy="385876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232A34"/>
                </a:solidFill>
                <a:latin typeface="Aptos"/>
              </a:defRPr>
            </a:pPr>
            <a:r>
              <a:t>Missing documents → request → lapse timer</a:t>
            </a:r>
            <a:br/>
            <a:r>
              <a:t>KYC mismatch → manual review or reject</a:t>
            </a:r>
            <a:br/>
            <a:r>
              <a:t>Fraud flag → investigation → reject if confirmed</a:t>
            </a:r>
            <a:br/>
            <a:r>
              <a:t>Bureau unavailable → retry → manual fallback</a:t>
            </a:r>
            <a:br/>
            <a:r>
              <a:t>Low score → reject or counter-offer</a:t>
            </a:r>
            <a:br/>
            <a:r>
              <a:t>Offer expiry / withdrawal / disbursement failure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800" b="1">
                <a:solidFill>
                  <a:srgbClr val="182F52"/>
                </a:solidFill>
                <a:latin typeface="Aptos"/>
              </a:defRPr>
            </a:pPr>
            <a:r>
              <a:t>Failure handling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Validation failures return actionable feedback and allow controlled resubmission.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External service failures use bounded retries and a manual or deferred fallback.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Timers make deadlines, waiting periods, and escalation thresholds explicit.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Boundary events catch exceptions at the activity where they can occur.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Compensation offsets completed business actions; it is not the same as a normal reverse sequence flow.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Every alternate route ends in recovery, escalation, rejection, cancellation, lapse, expiry, return, or loss closure.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F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0"/>
            <a:ext cx="10424160" cy="20116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A good BPMN model makes the normal process easy to trace and makes exceptions explicit, bounded, and recoverable.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60520"/>
            <a:ext cx="10241280" cy="10972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0">
                <a:solidFill>
                  <a:srgbClr val="D0E0F2"/>
                </a:solidFill>
                <a:latin typeface="Aptos"/>
              </a:defRPr>
            </a:pPr>
            <a:r>
              <a:t>Before submission: validate BPMN 2.0 notation, label gateway conditions, verify event attachment, and cross-check every failure register entry against the diagram.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080760"/>
            <a:ext cx="1024128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0">
                <a:solidFill>
                  <a:srgbClr val="D0E0F2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